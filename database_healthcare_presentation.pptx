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ACBF4D2-4888-EE2E-45B5-4082C4AD879E}">
          <p14:sldIdLst>
            <p14:sldId id="256"/>
          </p14:sldIdLst>
        </p14:section>
        <p14:section name="Design" id="{3256D610-90BB-F2B5-D457-CEB39949FC94}">
          <p14:sldIdLst>
            <p14:sldId id="257"/>
            <p14:sldId id="258"/>
            <p14:sldId id="259"/>
          </p14:sldIdLst>
        </p14:section>
        <p14:section name="Implementation" id="{6F8510A0-7C8E-9E47-90A5-4B2A07015996}">
          <p14:sldIdLst>
            <p14:sldId id="260"/>
            <p14:sldId id="261"/>
          </p14:sldIdLst>
        </p14:section>
        <p14:section name="Wrap-up" id="{A72F9D2C-AF61-1EB6-9500-1E990D0B8160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592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database to store and retrieve patient health information with integrity, security and accessibility.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43000"/>
            <a:ext cx="5120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834640"/>
            <a:ext cx="5120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43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Database Design for Healthcare Records</a:t>
            </a:r>
            <a:endParaRPr lang="en-US" sz="3800" dirty="0"/>
          </a:p>
        </p:txBody>
      </p:sp>
      <p:sp>
        <p:nvSpPr>
          <p:cNvPr id="11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8346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Patient, clinical and prescription data in a relational MySQL database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FirstBitSolutions project</a:t>
            </a:r>
            <a:endParaRPr lang="en-US" sz="1600" dirty="0"/>
          </a:p>
        </p:txBody>
      </p:sp>
      <p:sp>
        <p:nvSpPr>
          <p:cNvPr id="12" name="Presenter pill"/>
          <p:cNvSpPr/>
          <p:nvPr/>
        </p:nvSpPr>
        <p:spPr>
          <a:xfrm>
            <a:off x="548640" y="3840480"/>
            <a:ext cx="3291840" cy="685800"/>
          </a:xfrm>
          <a:prstGeom prst="roundRect">
            <a:avLst>
              <a:gd name="adj" fmla="val 16000"/>
            </a:avLst>
          </a:prstGeom>
          <a:solidFill>
            <a:schemeClr val="accent1">
              <a:alpha val="65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3" name="Presenter name"/>
          <p:cNvSpPr txBox="1"/>
          <p:nvPr/>
        </p:nvSpPr>
        <p:spPr>
          <a:xfrm>
            <a:off x="731520" y="3858768"/>
            <a:ext cx="3017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chemeClr val="bg2"/>
                </a:solidFill>
              </a:rPr>
              <a:t>PRESENTED BY</a:t>
            </a:r>
            <a:endParaRPr lang="en-US" sz="10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Pranita Jadhav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Problem statement: 7 requirements, 10 tables</a:t>
            </a:r>
            <a:endParaRPr lang="en-US" sz="3000" dirty="0"/>
          </a:p>
        </p:txBody>
      </p:sp>
      <p:sp>
        <p:nvSpPr>
          <p:cNvPr id="3" name="Card Patient information"/>
          <p:cNvSpPr/>
          <p:nvPr/>
        </p:nvSpPr>
        <p:spPr>
          <a:xfrm>
            <a:off x="457200" y="109728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4" name="Patient information badge"/>
          <p:cNvSpPr/>
          <p:nvPr/>
        </p:nvSpPr>
        <p:spPr>
          <a:xfrm>
            <a:off x="594360" y="1234440"/>
            <a:ext cx="411480" cy="41148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5" name="Patient information icon" descr="Patient inform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1345540"/>
            <a:ext cx="189281" cy="189281"/>
          </a:xfrm>
          <a:prstGeom prst="rect">
            <a:avLst/>
          </a:prstGeom>
        </p:spPr>
      </p:pic>
      <p:sp>
        <p:nvSpPr>
          <p:cNvPr id="6" name="Card title Patient information"/>
          <p:cNvSpPr txBox="1"/>
          <p:nvPr/>
        </p:nvSpPr>
        <p:spPr>
          <a:xfrm>
            <a:off x="1097280" y="118872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Patient information</a:t>
            </a:r>
            <a:endParaRPr lang="en-US" sz="1400" dirty="0"/>
          </a:p>
        </p:txBody>
      </p:sp>
      <p:sp>
        <p:nvSpPr>
          <p:cNvPr id="7" name="Card text Patient information"/>
          <p:cNvSpPr txBox="1"/>
          <p:nvPr/>
        </p:nvSpPr>
        <p:spPr>
          <a:xfrm>
            <a:off x="594360" y="175564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Name, DOB, gender, contact, insurance</a:t>
            </a:r>
            <a:endParaRPr lang="en-US" sz="1200" dirty="0"/>
          </a:p>
        </p:txBody>
      </p:sp>
      <p:sp>
        <p:nvSpPr>
          <p:cNvPr id="8" name="Tag bg Patient information"/>
          <p:cNvSpPr/>
          <p:nvPr/>
        </p:nvSpPr>
        <p:spPr>
          <a:xfrm>
            <a:off x="594360" y="2423160"/>
            <a:ext cx="1645920" cy="27432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ag Patient information"/>
          <p:cNvSpPr txBox="1"/>
          <p:nvPr/>
        </p:nvSpPr>
        <p:spPr>
          <a:xfrm>
            <a:off x="59436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Patient</a:t>
            </a:r>
            <a:endParaRPr lang="en-US" sz="1000" dirty="0"/>
          </a:p>
        </p:txBody>
      </p:sp>
      <p:sp>
        <p:nvSpPr>
          <p:cNvPr id="10" name="Card Medical history"/>
          <p:cNvSpPr/>
          <p:nvPr/>
        </p:nvSpPr>
        <p:spPr>
          <a:xfrm>
            <a:off x="2560320" y="109728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1" name="Medical history badge"/>
          <p:cNvSpPr/>
          <p:nvPr/>
        </p:nvSpPr>
        <p:spPr>
          <a:xfrm>
            <a:off x="2697480" y="1234440"/>
            <a:ext cx="411480" cy="411480"/>
          </a:xfrm>
          <a:prstGeom prst="ellipse">
            <a:avLst/>
          </a:prstGeom>
          <a:solidFill>
            <a:srgbClr val="2E9E7B"/>
          </a:solidFill>
          <a:ln w="12700">
            <a:solidFill>
              <a:srgbClr val="2E9E7B"/>
            </a:solidFill>
            <a:prstDash val="solid"/>
          </a:ln>
        </p:spPr>
      </p:sp>
      <p:pic>
        <p:nvPicPr>
          <p:cNvPr id="12" name="Medical history icon" descr="Medical histo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580" y="1345540"/>
            <a:ext cx="189281" cy="189281"/>
          </a:xfrm>
          <a:prstGeom prst="rect">
            <a:avLst/>
          </a:prstGeom>
        </p:spPr>
      </p:pic>
      <p:sp>
        <p:nvSpPr>
          <p:cNvPr id="13" name="Card title Medical history"/>
          <p:cNvSpPr txBox="1"/>
          <p:nvPr/>
        </p:nvSpPr>
        <p:spPr>
          <a:xfrm>
            <a:off x="3200400" y="118872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Medical history</a:t>
            </a:r>
            <a:endParaRPr lang="en-US" sz="1400" dirty="0"/>
          </a:p>
        </p:txBody>
      </p:sp>
      <p:sp>
        <p:nvSpPr>
          <p:cNvPr id="14" name="Card text Medical history"/>
          <p:cNvSpPr txBox="1"/>
          <p:nvPr/>
        </p:nvSpPr>
        <p:spPr>
          <a:xfrm>
            <a:off x="2697480" y="175564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Diagnoses, allergies, medications, treatments</a:t>
            </a:r>
            <a:endParaRPr lang="en-US" sz="1200" dirty="0"/>
          </a:p>
        </p:txBody>
      </p:sp>
      <p:sp>
        <p:nvSpPr>
          <p:cNvPr id="15" name="Tag bg Medical history"/>
          <p:cNvSpPr/>
          <p:nvPr/>
        </p:nvSpPr>
        <p:spPr>
          <a:xfrm>
            <a:off x="2697480" y="2423160"/>
            <a:ext cx="1645920" cy="27432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ag Medical history"/>
          <p:cNvSpPr txBox="1"/>
          <p:nvPr/>
        </p:nvSpPr>
        <p:spPr>
          <a:xfrm>
            <a:off x="269748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Medical_History</a:t>
            </a:r>
            <a:endParaRPr lang="en-US" sz="1000" dirty="0"/>
          </a:p>
        </p:txBody>
      </p:sp>
      <p:sp>
        <p:nvSpPr>
          <p:cNvPr id="17" name="Card Encounter records"/>
          <p:cNvSpPr/>
          <p:nvPr/>
        </p:nvSpPr>
        <p:spPr>
          <a:xfrm>
            <a:off x="4663440" y="109728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8" name="Encounter records badge"/>
          <p:cNvSpPr/>
          <p:nvPr/>
        </p:nvSpPr>
        <p:spPr>
          <a:xfrm>
            <a:off x="4800600" y="1234440"/>
            <a:ext cx="411480" cy="411480"/>
          </a:xfrm>
          <a:prstGeom prst="ellipse">
            <a:avLst/>
          </a:prstGeom>
          <a:solidFill>
            <a:srgbClr val="E3A92B"/>
          </a:solidFill>
          <a:ln w="12700">
            <a:solidFill>
              <a:srgbClr val="E3A92B"/>
            </a:solidFill>
            <a:prstDash val="solid"/>
          </a:ln>
        </p:spPr>
      </p:sp>
      <p:pic>
        <p:nvPicPr>
          <p:cNvPr id="19" name="Encounter records icon" descr="Encounter record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1700" y="1345540"/>
            <a:ext cx="189281" cy="189281"/>
          </a:xfrm>
          <a:prstGeom prst="rect">
            <a:avLst/>
          </a:prstGeom>
        </p:spPr>
      </p:pic>
      <p:sp>
        <p:nvSpPr>
          <p:cNvPr id="20" name="Card title Encounter records"/>
          <p:cNvSpPr txBox="1"/>
          <p:nvPr/>
        </p:nvSpPr>
        <p:spPr>
          <a:xfrm>
            <a:off x="5303520" y="118872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Encounter records</a:t>
            </a:r>
            <a:endParaRPr lang="en-US" sz="1400" dirty="0"/>
          </a:p>
        </p:txBody>
      </p:sp>
      <p:sp>
        <p:nvSpPr>
          <p:cNvPr id="21" name="Card text Encounter records"/>
          <p:cNvSpPr txBox="1"/>
          <p:nvPr/>
        </p:nvSpPr>
        <p:spPr>
          <a:xfrm>
            <a:off x="4800600" y="175564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Appointments, admissions, discharges</a:t>
            </a:r>
            <a:endParaRPr lang="en-US" sz="1200" dirty="0"/>
          </a:p>
        </p:txBody>
      </p:sp>
      <p:sp>
        <p:nvSpPr>
          <p:cNvPr id="22" name="Tag bg Encounter records"/>
          <p:cNvSpPr/>
          <p:nvPr/>
        </p:nvSpPr>
        <p:spPr>
          <a:xfrm>
            <a:off x="4800600" y="2423160"/>
            <a:ext cx="1645920" cy="27432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ag Encounter records"/>
          <p:cNvSpPr txBox="1"/>
          <p:nvPr/>
        </p:nvSpPr>
        <p:spPr>
          <a:xfrm>
            <a:off x="480060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Appointment, Encounter</a:t>
            </a:r>
            <a:endParaRPr lang="en-US" sz="1000" dirty="0"/>
          </a:p>
        </p:txBody>
      </p:sp>
      <p:sp>
        <p:nvSpPr>
          <p:cNvPr id="24" name="Card Diagnostic tests"/>
          <p:cNvSpPr/>
          <p:nvPr/>
        </p:nvSpPr>
        <p:spPr>
          <a:xfrm>
            <a:off x="6766560" y="109728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25" name="Diagnostic tests badge"/>
          <p:cNvSpPr/>
          <p:nvPr/>
        </p:nvSpPr>
        <p:spPr>
          <a:xfrm>
            <a:off x="6903720" y="1234440"/>
            <a:ext cx="411480" cy="411480"/>
          </a:xfrm>
          <a:prstGeom prst="ellipse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</p:sp>
      <p:pic>
        <p:nvPicPr>
          <p:cNvPr id="26" name="Diagnostic tests icon" descr="Diagnostic test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4820" y="1345540"/>
            <a:ext cx="189281" cy="189281"/>
          </a:xfrm>
          <a:prstGeom prst="rect">
            <a:avLst/>
          </a:prstGeom>
        </p:spPr>
      </p:pic>
      <p:sp>
        <p:nvSpPr>
          <p:cNvPr id="27" name="Card title Diagnostic tests"/>
          <p:cNvSpPr txBox="1"/>
          <p:nvPr/>
        </p:nvSpPr>
        <p:spPr>
          <a:xfrm>
            <a:off x="7406640" y="118872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Diagnostic tests</a:t>
            </a:r>
            <a:endParaRPr lang="en-US" sz="1400" dirty="0"/>
          </a:p>
        </p:txBody>
      </p:sp>
      <p:sp>
        <p:nvSpPr>
          <p:cNvPr id="28" name="Card text Diagnostic tests"/>
          <p:cNvSpPr txBox="1"/>
          <p:nvPr/>
        </p:nvSpPr>
        <p:spPr>
          <a:xfrm>
            <a:off x="6903720" y="175564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Test types, results, dates</a:t>
            </a:r>
            <a:endParaRPr lang="en-US" sz="1200" dirty="0"/>
          </a:p>
        </p:txBody>
      </p:sp>
      <p:sp>
        <p:nvSpPr>
          <p:cNvPr id="29" name="Tag bg Diagnostic tests"/>
          <p:cNvSpPr/>
          <p:nvPr/>
        </p:nvSpPr>
        <p:spPr>
          <a:xfrm>
            <a:off x="6903720" y="2423160"/>
            <a:ext cx="1645920" cy="27432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ag Diagnostic tests"/>
          <p:cNvSpPr txBox="1"/>
          <p:nvPr/>
        </p:nvSpPr>
        <p:spPr>
          <a:xfrm>
            <a:off x="690372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Diagnostic_Test</a:t>
            </a:r>
            <a:endParaRPr lang="en-US" sz="1000" dirty="0"/>
          </a:p>
        </p:txBody>
      </p:sp>
      <p:sp>
        <p:nvSpPr>
          <p:cNvPr id="31" name="Card Doctors"/>
          <p:cNvSpPr/>
          <p:nvPr/>
        </p:nvSpPr>
        <p:spPr>
          <a:xfrm>
            <a:off x="457200" y="297180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32" name="Doctors badge"/>
          <p:cNvSpPr/>
          <p:nvPr/>
        </p:nvSpPr>
        <p:spPr>
          <a:xfrm>
            <a:off x="594360" y="3108960"/>
            <a:ext cx="411480" cy="41148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33" name="Doctors icon" descr="Doctor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460" y="3220060"/>
            <a:ext cx="189281" cy="189281"/>
          </a:xfrm>
          <a:prstGeom prst="rect">
            <a:avLst/>
          </a:prstGeom>
        </p:spPr>
      </p:pic>
      <p:sp>
        <p:nvSpPr>
          <p:cNvPr id="34" name="Card title Doctors"/>
          <p:cNvSpPr txBox="1"/>
          <p:nvPr/>
        </p:nvSpPr>
        <p:spPr>
          <a:xfrm>
            <a:off x="1097280" y="30632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Doctors</a:t>
            </a:r>
            <a:endParaRPr lang="en-US" sz="1400" dirty="0"/>
          </a:p>
        </p:txBody>
      </p:sp>
      <p:sp>
        <p:nvSpPr>
          <p:cNvPr id="35" name="Card text Doctors"/>
          <p:cNvSpPr txBox="1"/>
          <p:nvPr/>
        </p:nvSpPr>
        <p:spPr>
          <a:xfrm>
            <a:off x="594360" y="363016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Doctor details and specialization</a:t>
            </a:r>
            <a:endParaRPr lang="en-US" sz="1200" dirty="0"/>
          </a:p>
        </p:txBody>
      </p:sp>
      <p:sp>
        <p:nvSpPr>
          <p:cNvPr id="36" name="Tag bg Doctors"/>
          <p:cNvSpPr/>
          <p:nvPr/>
        </p:nvSpPr>
        <p:spPr>
          <a:xfrm>
            <a:off x="594360" y="4297680"/>
            <a:ext cx="1645920" cy="27432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ag Doctors"/>
          <p:cNvSpPr txBox="1"/>
          <p:nvPr/>
        </p:nvSpPr>
        <p:spPr>
          <a:xfrm>
            <a:off x="59436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Doctor</a:t>
            </a:r>
            <a:endParaRPr lang="en-US" sz="1000" dirty="0"/>
          </a:p>
        </p:txBody>
      </p:sp>
      <p:sp>
        <p:nvSpPr>
          <p:cNvPr id="38" name="Card Prescriptions"/>
          <p:cNvSpPr/>
          <p:nvPr/>
        </p:nvSpPr>
        <p:spPr>
          <a:xfrm>
            <a:off x="2560320" y="297180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39" name="Prescriptions badge"/>
          <p:cNvSpPr/>
          <p:nvPr/>
        </p:nvSpPr>
        <p:spPr>
          <a:xfrm>
            <a:off x="2697480" y="3108960"/>
            <a:ext cx="411480" cy="411480"/>
          </a:xfrm>
          <a:prstGeom prst="ellipse">
            <a:avLst/>
          </a:prstGeom>
          <a:solidFill>
            <a:srgbClr val="2E9E7B"/>
          </a:solidFill>
          <a:ln w="12700">
            <a:solidFill>
              <a:srgbClr val="2E9E7B"/>
            </a:solidFill>
            <a:prstDash val="solid"/>
          </a:ln>
        </p:spPr>
      </p:sp>
      <p:pic>
        <p:nvPicPr>
          <p:cNvPr id="40" name="Prescriptions icon" descr="Prescription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8580" y="3220060"/>
            <a:ext cx="189281" cy="189281"/>
          </a:xfrm>
          <a:prstGeom prst="rect">
            <a:avLst/>
          </a:prstGeom>
        </p:spPr>
      </p:pic>
      <p:sp>
        <p:nvSpPr>
          <p:cNvPr id="41" name="Card title Prescriptions"/>
          <p:cNvSpPr txBox="1"/>
          <p:nvPr/>
        </p:nvSpPr>
        <p:spPr>
          <a:xfrm>
            <a:off x="3200400" y="30632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Prescriptions</a:t>
            </a:r>
            <a:endParaRPr lang="en-US" sz="1400" dirty="0"/>
          </a:p>
        </p:txBody>
      </p:sp>
      <p:sp>
        <p:nvSpPr>
          <p:cNvPr id="42" name="Card text Prescriptions"/>
          <p:cNvSpPr txBox="1"/>
          <p:nvPr/>
        </p:nvSpPr>
        <p:spPr>
          <a:xfrm>
            <a:off x="2697480" y="363016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Medications, dosage, dispensing</a:t>
            </a:r>
            <a:endParaRPr lang="en-US" sz="1200" dirty="0"/>
          </a:p>
        </p:txBody>
      </p:sp>
      <p:sp>
        <p:nvSpPr>
          <p:cNvPr id="43" name="Tag bg Prescriptions"/>
          <p:cNvSpPr/>
          <p:nvPr/>
        </p:nvSpPr>
        <p:spPr>
          <a:xfrm>
            <a:off x="2697480" y="4297680"/>
            <a:ext cx="1645920" cy="27432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Tag Prescriptions"/>
          <p:cNvSpPr txBox="1"/>
          <p:nvPr/>
        </p:nvSpPr>
        <p:spPr>
          <a:xfrm>
            <a:off x="269748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Prescription, Medication</a:t>
            </a:r>
            <a:endParaRPr lang="en-US" sz="1000" dirty="0"/>
          </a:p>
        </p:txBody>
      </p:sp>
      <p:sp>
        <p:nvSpPr>
          <p:cNvPr id="45" name="Card Procedures &amp; surgeries"/>
          <p:cNvSpPr/>
          <p:nvPr/>
        </p:nvSpPr>
        <p:spPr>
          <a:xfrm>
            <a:off x="4663440" y="297180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46" name="Procedures &amp; surgeries badge"/>
          <p:cNvSpPr/>
          <p:nvPr/>
        </p:nvSpPr>
        <p:spPr>
          <a:xfrm>
            <a:off x="4800600" y="3108960"/>
            <a:ext cx="411480" cy="411480"/>
          </a:xfrm>
          <a:prstGeom prst="ellipse">
            <a:avLst/>
          </a:prstGeom>
          <a:solidFill>
            <a:srgbClr val="E3A92B"/>
          </a:solidFill>
          <a:ln w="12700">
            <a:solidFill>
              <a:srgbClr val="E3A92B"/>
            </a:solidFill>
            <a:prstDash val="solid"/>
          </a:ln>
        </p:spPr>
      </p:sp>
      <p:pic>
        <p:nvPicPr>
          <p:cNvPr id="47" name="Procedures &amp; surgeries icon" descr="Procedures &amp; surgerie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1700" y="3220060"/>
            <a:ext cx="189281" cy="189281"/>
          </a:xfrm>
          <a:prstGeom prst="rect">
            <a:avLst/>
          </a:prstGeom>
        </p:spPr>
      </p:pic>
      <p:sp>
        <p:nvSpPr>
          <p:cNvPr id="48" name="Card title Procedures &amp;amp; surgeries"/>
          <p:cNvSpPr txBox="1"/>
          <p:nvPr/>
        </p:nvSpPr>
        <p:spPr>
          <a:xfrm>
            <a:off x="5303520" y="30632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Procedures &amp; surgeries</a:t>
            </a:r>
            <a:endParaRPr lang="en-US" sz="1400" dirty="0"/>
          </a:p>
        </p:txBody>
      </p:sp>
      <p:sp>
        <p:nvSpPr>
          <p:cNvPr id="49" name="Card text Procedures &amp;amp; surgeries"/>
          <p:cNvSpPr txBox="1"/>
          <p:nvPr/>
        </p:nvSpPr>
        <p:spPr>
          <a:xfrm>
            <a:off x="4800600" y="363016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Procedures performed on patients</a:t>
            </a:r>
            <a:endParaRPr lang="en-US" sz="1200" dirty="0"/>
          </a:p>
        </p:txBody>
      </p:sp>
      <p:sp>
        <p:nvSpPr>
          <p:cNvPr id="50" name="Tag bg Procedures &amp; surgeries"/>
          <p:cNvSpPr/>
          <p:nvPr/>
        </p:nvSpPr>
        <p:spPr>
          <a:xfrm>
            <a:off x="4800600" y="4297680"/>
            <a:ext cx="1645920" cy="27432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1" name="Tag Procedures &amp;amp; surgeries"/>
          <p:cNvSpPr txBox="1"/>
          <p:nvPr/>
        </p:nvSpPr>
        <p:spPr>
          <a:xfrm>
            <a:off x="480060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Procedure_Surgery, Surgeon</a:t>
            </a:r>
            <a:endParaRPr lang="en-US" sz="1000" dirty="0"/>
          </a:p>
        </p:txBody>
      </p:sp>
      <p:sp>
        <p:nvSpPr>
          <p:cNvPr id="52" name="Card Deliverables"/>
          <p:cNvSpPr/>
          <p:nvPr/>
        </p:nvSpPr>
        <p:spPr>
          <a:xfrm>
            <a:off x="6766560" y="297180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53" name="Deliverables badge"/>
          <p:cNvSpPr/>
          <p:nvPr/>
        </p:nvSpPr>
        <p:spPr>
          <a:xfrm>
            <a:off x="6903720" y="3108960"/>
            <a:ext cx="411480" cy="411480"/>
          </a:xfrm>
          <a:prstGeom prst="ellipse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pic>
        <p:nvPicPr>
          <p:cNvPr id="54" name="Deliverables icon" descr="Deliverable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4820" y="3220060"/>
            <a:ext cx="189281" cy="189281"/>
          </a:xfrm>
          <a:prstGeom prst="rect">
            <a:avLst/>
          </a:prstGeom>
        </p:spPr>
      </p:pic>
      <p:sp>
        <p:nvSpPr>
          <p:cNvPr id="55" name="Card title Deliverables"/>
          <p:cNvSpPr txBox="1"/>
          <p:nvPr/>
        </p:nvSpPr>
        <p:spPr>
          <a:xfrm>
            <a:off x="7406640" y="30632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Deliverables</a:t>
            </a:r>
            <a:endParaRPr lang="en-US" sz="1400" dirty="0"/>
          </a:p>
        </p:txBody>
      </p:sp>
      <p:sp>
        <p:nvSpPr>
          <p:cNvPr id="56" name="Card text Deliverables"/>
          <p:cNvSpPr txBox="1"/>
          <p:nvPr/>
        </p:nvSpPr>
        <p:spPr>
          <a:xfrm>
            <a:off x="6903720" y="363016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ER diagram, database design, tables with 10+ records</a:t>
            </a:r>
            <a:endParaRPr lang="en-US" sz="1200" dirty="0"/>
          </a:p>
        </p:txBody>
      </p:sp>
      <p:sp>
        <p:nvSpPr>
          <p:cNvPr id="57" name="Tag bg Deliverables"/>
          <p:cNvSpPr/>
          <p:nvPr/>
        </p:nvSpPr>
        <p:spPr>
          <a:xfrm>
            <a:off x="6903720" y="4297680"/>
            <a:ext cx="1645920" cy="27432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8" name="Tag Deliverables"/>
          <p:cNvSpPr txBox="1"/>
          <p:nvPr/>
        </p:nvSpPr>
        <p:spPr>
          <a:xfrm>
            <a:off x="690372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All done: 20 rows per table</a:t>
            </a:r>
            <a:endParaRPr lang="en-US" sz="100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ER diagram (Chen notation)</a:t>
            </a:r>
            <a:endParaRPr lang="en-US" sz="3000" dirty="0"/>
          </a:p>
        </p:txBody>
      </p:sp>
      <p:sp>
        <p:nvSpPr>
          <p:cNvPr id="3" name="ER card"/>
          <p:cNvSpPr/>
          <p:nvPr/>
        </p:nvSpPr>
        <p:spPr>
          <a:xfrm>
            <a:off x="457200" y="1097280"/>
            <a:ext cx="420624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pic>
        <p:nvPicPr>
          <p:cNvPr id="4" name="ER diagram" descr="ER diagram of the healthcare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1170432"/>
            <a:ext cx="3739896" cy="3429000"/>
          </a:xfrm>
          <a:prstGeom prst="rect">
            <a:avLst/>
          </a:prstGeom>
        </p:spPr>
      </p:pic>
      <p:sp>
        <p:nvSpPr>
          <p:cNvPr id="5" name="Stat entities"/>
          <p:cNvSpPr/>
          <p:nvPr/>
        </p:nvSpPr>
        <p:spPr>
          <a:xfrm>
            <a:off x="4937760" y="1097280"/>
            <a:ext cx="182880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6" name="Stat number entities"/>
          <p:cNvSpPr txBox="1"/>
          <p:nvPr/>
        </p:nvSpPr>
        <p:spPr>
          <a:xfrm>
            <a:off x="5074920" y="114300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7" name="Stat label entities"/>
          <p:cNvSpPr txBox="1"/>
          <p:nvPr/>
        </p:nvSpPr>
        <p:spPr>
          <a:xfrm>
            <a:off x="5715000" y="114300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entities</a:t>
            </a:r>
            <a:endParaRPr lang="en-US" sz="1300" dirty="0"/>
          </a:p>
        </p:txBody>
      </p:sp>
      <p:sp>
        <p:nvSpPr>
          <p:cNvPr id="8" name="Stat relationships"/>
          <p:cNvSpPr/>
          <p:nvPr/>
        </p:nvSpPr>
        <p:spPr>
          <a:xfrm>
            <a:off x="6858000" y="1097280"/>
            <a:ext cx="182880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9" name="Stat number relationships"/>
          <p:cNvSpPr txBox="1"/>
          <p:nvPr/>
        </p:nvSpPr>
        <p:spPr>
          <a:xfrm>
            <a:off x="6995160" y="114300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10" name="Stat label relationships"/>
          <p:cNvSpPr txBox="1"/>
          <p:nvPr/>
        </p:nvSpPr>
        <p:spPr>
          <a:xfrm>
            <a:off x="7635240" y="114300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relationships</a:t>
            </a:r>
            <a:endParaRPr lang="en-US" sz="1300" dirty="0"/>
          </a:p>
        </p:txBody>
      </p:sp>
      <p:sp>
        <p:nvSpPr>
          <p:cNvPr id="11" name="Notes card"/>
          <p:cNvSpPr/>
          <p:nvPr/>
        </p:nvSpPr>
        <p:spPr>
          <a:xfrm>
            <a:off x="4937760" y="2240280"/>
            <a:ext cx="3749040" cy="2468880"/>
          </a:xfrm>
          <a:prstGeom prst="roundRect">
            <a:avLst>
              <a:gd name="adj" fmla="val 296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2" name="ER notes"/>
          <p:cNvSpPr txBox="1"/>
          <p:nvPr/>
        </p:nvSpPr>
        <p:spPr>
          <a:xfrm>
            <a:off x="5120640" y="233172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Rectangle = entity, diamond = relationship, oval = attribute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Patient and Doctor each link to Appointment, Encounter, Diagnostic_Test, Prescription and Procedure_Surgery (1:N)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Prescription N:1 Medication, Procedure_Surgery N:1 Surgeon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Medical_History belongs to one Patient (1:N)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Database design: tables and keys</a:t>
            </a:r>
            <a:endParaRPr lang="en-US" sz="3000" dirty="0"/>
          </a:p>
        </p:txBody>
      </p:sp>
      <p:graphicFrame>
        <p:nvGraphicFramePr>
          <p:cNvPr id="5" name="Tables and key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59206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Table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Primary key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Foreign keys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Key columns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Patient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patient_id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name, date_of_birth, gender, contact_no, insurance_no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Doctor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doctor_id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specialization, email, experience_years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Surgeon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surgeon_id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specialization, experience_years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Medication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medication_id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name, dosage, manufacturer, price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Appointment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appointment_id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patient_id, doctor_id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date, time, admission / discharge, status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Medical_History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history_id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patient_id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diagnosis, allergies, medications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Encounter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encounter_id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patient_id, doctor_id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date, diagnosis, treatment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Diagnostic_Test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test_id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patient_id, doctor_id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test_name, test_date, result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Prescription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prescription_id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patient_id, doctor_id, medication_id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dosage, duration, quantity, dispensing status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Procedure_Surgery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procedure_id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patient_id, doctor_id, surgeon_id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procedure_name, date, description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Data integrity and security</a:t>
            </a:r>
            <a:endParaRPr lang="en-US" sz="3000" dirty="0"/>
          </a:p>
        </p:txBody>
      </p:sp>
      <p:sp>
        <p:nvSpPr>
          <p:cNvPr id="3" name="Card Data integrity"/>
          <p:cNvSpPr/>
          <p:nvPr/>
        </p:nvSpPr>
        <p:spPr>
          <a:xfrm>
            <a:off x="457200" y="1097280"/>
            <a:ext cx="402336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4" name="Data integrity badge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5" name="Data integrity icon" descr="Data integr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357884"/>
            <a:ext cx="210312" cy="210312"/>
          </a:xfrm>
          <a:prstGeom prst="rect">
            <a:avLst/>
          </a:prstGeom>
        </p:spPr>
      </p:pic>
      <p:sp>
        <p:nvSpPr>
          <p:cNvPr id="6" name="Card title Data integrity"/>
          <p:cNvSpPr txBox="1"/>
          <p:nvPr/>
        </p:nvSpPr>
        <p:spPr>
          <a:xfrm>
            <a:off x="1234440" y="1234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 integrity</a:t>
            </a:r>
            <a:endParaRPr lang="en-US" sz="1800" dirty="0"/>
          </a:p>
        </p:txBody>
      </p:sp>
      <p:sp>
        <p:nvSpPr>
          <p:cNvPr id="7" name="Card list Data integrity"/>
          <p:cNvSpPr txBox="1"/>
          <p:nvPr/>
        </p:nvSpPr>
        <p:spPr>
          <a:xfrm>
            <a:off x="685800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Primary and foreign keys on every table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UNIQUE insurance number and doctor email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NOT NULL and CHECK rules (gender, status, price, dates)</a:t>
            </a:r>
            <a:endParaRPr lang="en-US" sz="1300" dirty="0"/>
          </a:p>
        </p:txBody>
      </p:sp>
      <p:sp>
        <p:nvSpPr>
          <p:cNvPr id="8" name="Card Security"/>
          <p:cNvSpPr/>
          <p:nvPr/>
        </p:nvSpPr>
        <p:spPr>
          <a:xfrm>
            <a:off x="4663440" y="1097280"/>
            <a:ext cx="402336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9" name="Security badge"/>
          <p:cNvSpPr/>
          <p:nvPr/>
        </p:nvSpPr>
        <p:spPr>
          <a:xfrm>
            <a:off x="4846320" y="1234440"/>
            <a:ext cx="457200" cy="457200"/>
          </a:xfrm>
          <a:prstGeom prst="ellipse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pic>
        <p:nvPicPr>
          <p:cNvPr id="10" name="Security icon" descr="Secur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764" y="1357884"/>
            <a:ext cx="210312" cy="210312"/>
          </a:xfrm>
          <a:prstGeom prst="rect">
            <a:avLst/>
          </a:prstGeom>
        </p:spPr>
      </p:pic>
      <p:sp>
        <p:nvSpPr>
          <p:cNvPr id="11" name="Card title Security"/>
          <p:cNvSpPr txBox="1"/>
          <p:nvPr/>
        </p:nvSpPr>
        <p:spPr>
          <a:xfrm>
            <a:off x="5440680" y="1234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Security</a:t>
            </a:r>
            <a:endParaRPr lang="en-US" sz="1800" dirty="0"/>
          </a:p>
        </p:txBody>
      </p:sp>
      <p:sp>
        <p:nvSpPr>
          <p:cNvPr id="12" name="Card list Security"/>
          <p:cNvSpPr txBox="1"/>
          <p:nvPr/>
        </p:nvSpPr>
        <p:spPr>
          <a:xfrm>
            <a:off x="4892040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patient_basic_view hides insurance details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Roles: doctor, reception, read-only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GRANT gives each role only what it needs</a:t>
            </a:r>
            <a:endParaRPr lang="en-US" sz="1300" dirty="0"/>
          </a:p>
        </p:txBody>
      </p:sp>
      <p:sp>
        <p:nvSpPr>
          <p:cNvPr id="13" name="Card Automation"/>
          <p:cNvSpPr/>
          <p:nvPr/>
        </p:nvSpPr>
        <p:spPr>
          <a:xfrm>
            <a:off x="457200" y="2971800"/>
            <a:ext cx="402336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4" name="Automation badge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2E9E7B"/>
          </a:solidFill>
          <a:ln w="12700">
            <a:solidFill>
              <a:srgbClr val="2E9E7B"/>
            </a:solidFill>
            <a:prstDash val="solid"/>
          </a:ln>
        </p:spPr>
      </p:sp>
      <p:pic>
        <p:nvPicPr>
          <p:cNvPr id="15" name="Automation icon" descr="Autom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3232404"/>
            <a:ext cx="210312" cy="210312"/>
          </a:xfrm>
          <a:prstGeom prst="rect">
            <a:avLst/>
          </a:prstGeom>
        </p:spPr>
      </p:pic>
      <p:sp>
        <p:nvSpPr>
          <p:cNvPr id="16" name="Card title Automation"/>
          <p:cNvSpPr txBox="1"/>
          <p:nvPr/>
        </p:nvSpPr>
        <p:spPr>
          <a:xfrm>
            <a:off x="123444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Automation</a:t>
            </a:r>
            <a:endParaRPr lang="en-US" sz="1800" dirty="0"/>
          </a:p>
        </p:txBody>
      </p:sp>
      <p:sp>
        <p:nvSpPr>
          <p:cNvPr id="17" name="Card list Automation"/>
          <p:cNvSpPr txBox="1"/>
          <p:nvPr/>
        </p:nvSpPr>
        <p:spPr>
          <a:xfrm>
            <a:off x="685800" y="365760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Trigger sets a default appointment status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Stored procedure GetPatientMedicalHistory(id)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Reusable joins for reports</a:t>
            </a:r>
            <a:endParaRPr lang="en-US" sz="1300" dirty="0"/>
          </a:p>
        </p:txBody>
      </p:sp>
      <p:sp>
        <p:nvSpPr>
          <p:cNvPr id="18" name="Card Sample data"/>
          <p:cNvSpPr/>
          <p:nvPr/>
        </p:nvSpPr>
        <p:spPr>
          <a:xfrm>
            <a:off x="4663440" y="2971800"/>
            <a:ext cx="402336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9" name="Sample data badge"/>
          <p:cNvSpPr/>
          <p:nvPr/>
        </p:nvSpPr>
        <p:spPr>
          <a:xfrm>
            <a:off x="4846320" y="3108960"/>
            <a:ext cx="457200" cy="457200"/>
          </a:xfrm>
          <a:prstGeom prst="ellipse">
            <a:avLst/>
          </a:prstGeom>
          <a:solidFill>
            <a:srgbClr val="E3A92B"/>
          </a:solidFill>
          <a:ln w="12700">
            <a:solidFill>
              <a:srgbClr val="E3A92B"/>
            </a:solidFill>
            <a:prstDash val="solid"/>
          </a:ln>
        </p:spPr>
      </p:sp>
      <p:pic>
        <p:nvPicPr>
          <p:cNvPr id="20" name="Sample data icon" descr="Sample dat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9764" y="3232404"/>
            <a:ext cx="210312" cy="210312"/>
          </a:xfrm>
          <a:prstGeom prst="rect">
            <a:avLst/>
          </a:prstGeom>
        </p:spPr>
      </p:pic>
      <p:sp>
        <p:nvSpPr>
          <p:cNvPr id="21" name="Card title Sample data"/>
          <p:cNvSpPr txBox="1"/>
          <p:nvPr/>
        </p:nvSpPr>
        <p:spPr>
          <a:xfrm>
            <a:off x="544068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Sample data</a:t>
            </a:r>
            <a:endParaRPr lang="en-US" sz="1800" dirty="0"/>
          </a:p>
        </p:txBody>
      </p:sp>
      <p:sp>
        <p:nvSpPr>
          <p:cNvPr id="22" name="Card list Sample data"/>
          <p:cNvSpPr txBox="1"/>
          <p:nvPr/>
        </p:nvSpPr>
        <p:spPr>
          <a:xfrm>
            <a:off x="4892040" y="365760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10 tables, 20 records each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Realistic patients, doctors, drugs, procedures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Tested: script runs with 0 errors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Sample queries</a:t>
            </a:r>
            <a:endParaRPr lang="en-US" sz="3000" dirty="0"/>
          </a:p>
        </p:txBody>
      </p:sp>
      <p:sp>
        <p:nvSpPr>
          <p:cNvPr id="3" name="Card Who takes which medicine?"/>
          <p:cNvSpPr/>
          <p:nvPr/>
        </p:nvSpPr>
        <p:spPr>
          <a:xfrm>
            <a:off x="365760" y="1097280"/>
            <a:ext cx="2679192" cy="3611880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4" name="Who takes which medicine? badge"/>
          <p:cNvSpPr/>
          <p:nvPr/>
        </p:nvSpPr>
        <p:spPr>
          <a:xfrm>
            <a:off x="502920" y="1234440"/>
            <a:ext cx="411480" cy="41148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5" name="Who takes which medicine? icon" descr="Who takes which medicine?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1345540"/>
            <a:ext cx="189281" cy="189281"/>
          </a:xfrm>
          <a:prstGeom prst="rect">
            <a:avLst/>
          </a:prstGeom>
        </p:spPr>
      </p:pic>
      <p:sp>
        <p:nvSpPr>
          <p:cNvPr id="6" name="Query title Who takes which medicine?"/>
          <p:cNvSpPr txBox="1"/>
          <p:nvPr/>
        </p:nvSpPr>
        <p:spPr>
          <a:xfrm>
            <a:off x="1005840" y="1234440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Who takes which medicine?</a:t>
            </a:r>
            <a:endParaRPr lang="en-US" sz="1400" dirty="0"/>
          </a:p>
        </p:txBody>
      </p:sp>
      <p:sp>
        <p:nvSpPr>
          <p:cNvPr id="7" name="Code panel Who takes which medicine?"/>
          <p:cNvSpPr/>
          <p:nvPr/>
        </p:nvSpPr>
        <p:spPr>
          <a:xfrm>
            <a:off x="502920" y="1783080"/>
            <a:ext cx="2404872" cy="2286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Code Who takes which medicine?"/>
          <p:cNvSpPr txBox="1"/>
          <p:nvPr/>
        </p:nvSpPr>
        <p:spPr>
          <a:xfrm>
            <a:off x="612648" y="1847088"/>
            <a:ext cx="21854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p.name,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m.medication_name,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pr.dosage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Prescription pr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Patient 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pr.patient_id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p.patient_id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Medication 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pr.medication_id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m.medication_id;</a:t>
            </a:r>
            <a:endParaRPr lang="en-US" sz="1000" dirty="0"/>
          </a:p>
        </p:txBody>
      </p:sp>
      <p:sp>
        <p:nvSpPr>
          <p:cNvPr id="9" name="Caption Who takes which medicine?"/>
          <p:cNvSpPr txBox="1"/>
          <p:nvPr/>
        </p:nvSpPr>
        <p:spPr>
          <a:xfrm>
            <a:off x="502920" y="42062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Joins 3 tables</a:t>
            </a:r>
            <a:endParaRPr lang="en-US" sz="1200" dirty="0"/>
          </a:p>
        </p:txBody>
      </p:sp>
      <p:sp>
        <p:nvSpPr>
          <p:cNvPr id="10" name="Card Surgeries and surgeons"/>
          <p:cNvSpPr/>
          <p:nvPr/>
        </p:nvSpPr>
        <p:spPr>
          <a:xfrm>
            <a:off x="3227832" y="1097280"/>
            <a:ext cx="2679192" cy="3611880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1" name="Surgeries and surgeons badge"/>
          <p:cNvSpPr/>
          <p:nvPr/>
        </p:nvSpPr>
        <p:spPr>
          <a:xfrm>
            <a:off x="3364992" y="1234440"/>
            <a:ext cx="411480" cy="411480"/>
          </a:xfrm>
          <a:prstGeom prst="ellipse">
            <a:avLst/>
          </a:prstGeom>
          <a:solidFill>
            <a:srgbClr val="2E9E7B"/>
          </a:solidFill>
          <a:ln w="12700">
            <a:solidFill>
              <a:srgbClr val="2E9E7B"/>
            </a:solidFill>
            <a:prstDash val="solid"/>
          </a:ln>
        </p:spPr>
      </p:sp>
      <p:pic>
        <p:nvPicPr>
          <p:cNvPr id="12" name="Surgeries and surgeons icon" descr="Surgeries and surgeo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092" y="1345540"/>
            <a:ext cx="189281" cy="189281"/>
          </a:xfrm>
          <a:prstGeom prst="rect">
            <a:avLst/>
          </a:prstGeom>
        </p:spPr>
      </p:pic>
      <p:sp>
        <p:nvSpPr>
          <p:cNvPr id="13" name="Query title Surgeries and surgeons"/>
          <p:cNvSpPr txBox="1"/>
          <p:nvPr/>
        </p:nvSpPr>
        <p:spPr>
          <a:xfrm>
            <a:off x="3867912" y="1234440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Surgeries and surgeons</a:t>
            </a:r>
            <a:endParaRPr lang="en-US" sz="1400" dirty="0"/>
          </a:p>
        </p:txBody>
      </p:sp>
      <p:sp>
        <p:nvSpPr>
          <p:cNvPr id="14" name="Code panel Surgeries and surgeons"/>
          <p:cNvSpPr/>
          <p:nvPr/>
        </p:nvSpPr>
        <p:spPr>
          <a:xfrm>
            <a:off x="3364992" y="1783080"/>
            <a:ext cx="2404872" cy="2286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Code Surgeries and surgeons"/>
          <p:cNvSpPr txBox="1"/>
          <p:nvPr/>
        </p:nvSpPr>
        <p:spPr>
          <a:xfrm>
            <a:off x="3474720" y="1847088"/>
            <a:ext cx="21854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p.name,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ps.procedure_name,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s.name AS surgeon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Procedure_Surgery 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Patient 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ps.patient_id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p.patient_id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Surgeon 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ps.surgeon_id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s.surgeon_id;</a:t>
            </a:r>
            <a:endParaRPr lang="en-US" sz="1000" dirty="0"/>
          </a:p>
        </p:txBody>
      </p:sp>
      <p:sp>
        <p:nvSpPr>
          <p:cNvPr id="16" name="Caption Surgeries and surgeons"/>
          <p:cNvSpPr txBox="1"/>
          <p:nvPr/>
        </p:nvSpPr>
        <p:spPr>
          <a:xfrm>
            <a:off x="3364992" y="42062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Links patient, procedure, surgeon</a:t>
            </a:r>
            <a:endParaRPr lang="en-US" sz="1200" dirty="0"/>
          </a:p>
        </p:txBody>
      </p:sp>
      <p:sp>
        <p:nvSpPr>
          <p:cNvPr id="17" name="Card Patients per diagnosis"/>
          <p:cNvSpPr/>
          <p:nvPr/>
        </p:nvSpPr>
        <p:spPr>
          <a:xfrm>
            <a:off x="6089904" y="1097280"/>
            <a:ext cx="2679192" cy="3611880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8" name="Patients per diagnosis badge"/>
          <p:cNvSpPr/>
          <p:nvPr/>
        </p:nvSpPr>
        <p:spPr>
          <a:xfrm>
            <a:off x="6227064" y="1234440"/>
            <a:ext cx="411480" cy="411480"/>
          </a:xfrm>
          <a:prstGeom prst="ellipse">
            <a:avLst/>
          </a:prstGeom>
          <a:solidFill>
            <a:srgbClr val="E3A92B"/>
          </a:solidFill>
          <a:ln w="12700">
            <a:solidFill>
              <a:srgbClr val="E3A92B"/>
            </a:solidFill>
            <a:prstDash val="solid"/>
          </a:ln>
        </p:spPr>
      </p:sp>
      <p:pic>
        <p:nvPicPr>
          <p:cNvPr id="19" name="Patients per diagnosis icon" descr="Patients per diagnosi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164" y="1345540"/>
            <a:ext cx="189281" cy="189281"/>
          </a:xfrm>
          <a:prstGeom prst="rect">
            <a:avLst/>
          </a:prstGeom>
        </p:spPr>
      </p:pic>
      <p:sp>
        <p:nvSpPr>
          <p:cNvPr id="20" name="Query title Patients per diagnosis"/>
          <p:cNvSpPr txBox="1"/>
          <p:nvPr/>
        </p:nvSpPr>
        <p:spPr>
          <a:xfrm>
            <a:off x="6729984" y="1234440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Patients per diagnosis</a:t>
            </a:r>
            <a:endParaRPr lang="en-US" sz="1400" dirty="0"/>
          </a:p>
        </p:txBody>
      </p:sp>
      <p:sp>
        <p:nvSpPr>
          <p:cNvPr id="21" name="Code panel Patients per diagnosis"/>
          <p:cNvSpPr/>
          <p:nvPr/>
        </p:nvSpPr>
        <p:spPr>
          <a:xfrm>
            <a:off x="6227064" y="1783080"/>
            <a:ext cx="2404872" cy="2286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Code Patients per diagnosis"/>
          <p:cNvSpPr txBox="1"/>
          <p:nvPr/>
        </p:nvSpPr>
        <p:spPr>
          <a:xfrm>
            <a:off x="6336792" y="1847088"/>
            <a:ext cx="21854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diagnosis,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total_patients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Medical_History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diagnosis;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GetPatientMedicalHistory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(4);</a:t>
            </a:r>
            <a:endParaRPr lang="en-US" sz="1000" dirty="0"/>
          </a:p>
        </p:txBody>
      </p:sp>
      <p:sp>
        <p:nvSpPr>
          <p:cNvPr id="23" name="Caption Patients per diagnosis"/>
          <p:cNvSpPr txBox="1"/>
          <p:nvPr/>
        </p:nvSpPr>
        <p:spPr>
          <a:xfrm>
            <a:off x="6227064" y="42062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Aggregate and stored procedure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Summary</a:t>
            </a:r>
            <a:endParaRPr lang="en-US" sz="3000" dirty="0"/>
          </a:p>
        </p:txBody>
      </p:sp>
      <p:sp>
        <p:nvSpPr>
          <p:cNvPr id="3" name="Stat card 10"/>
          <p:cNvSpPr/>
          <p:nvPr/>
        </p:nvSpPr>
        <p:spPr>
          <a:xfrm>
            <a:off x="457200" y="109728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4" name="Stat 10 badg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5" name="Stat 10 icon" descr="Stat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403604"/>
            <a:ext cx="210312" cy="210312"/>
          </a:xfrm>
          <a:prstGeom prst="rect">
            <a:avLst/>
          </a:prstGeom>
        </p:spPr>
      </p:pic>
      <p:sp>
        <p:nvSpPr>
          <p:cNvPr id="6" name="Stat number 10"/>
          <p:cNvSpPr txBox="1"/>
          <p:nvPr/>
        </p:nvSpPr>
        <p:spPr>
          <a:xfrm>
            <a:off x="1234440" y="120700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7" name="Stat label 10"/>
          <p:cNvSpPr txBox="1"/>
          <p:nvPr/>
        </p:nvSpPr>
        <p:spPr>
          <a:xfrm>
            <a:off x="640080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tables with keys and constraints</a:t>
            </a:r>
            <a:endParaRPr lang="en-US" sz="1400" dirty="0"/>
          </a:p>
        </p:txBody>
      </p:sp>
      <p:sp>
        <p:nvSpPr>
          <p:cNvPr id="8" name="Stat card 200"/>
          <p:cNvSpPr/>
          <p:nvPr/>
        </p:nvSpPr>
        <p:spPr>
          <a:xfrm>
            <a:off x="3291840" y="109728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9" name="Stat 200 badge"/>
          <p:cNvSpPr/>
          <p:nvPr/>
        </p:nvSpPr>
        <p:spPr>
          <a:xfrm>
            <a:off x="3474720" y="1280160"/>
            <a:ext cx="457200" cy="457200"/>
          </a:xfrm>
          <a:prstGeom prst="ellipse">
            <a:avLst/>
          </a:prstGeom>
          <a:solidFill>
            <a:srgbClr val="2E9E7B"/>
          </a:solidFill>
          <a:ln w="12700">
            <a:solidFill>
              <a:srgbClr val="2E9E7B"/>
            </a:solidFill>
            <a:prstDash val="solid"/>
          </a:ln>
        </p:spPr>
      </p:sp>
      <p:pic>
        <p:nvPicPr>
          <p:cNvPr id="10" name="Stat 200 icon" descr="Stat 2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164" y="1403604"/>
            <a:ext cx="210312" cy="210312"/>
          </a:xfrm>
          <a:prstGeom prst="rect">
            <a:avLst/>
          </a:prstGeom>
        </p:spPr>
      </p:pic>
      <p:sp>
        <p:nvSpPr>
          <p:cNvPr id="11" name="Stat number 200"/>
          <p:cNvSpPr txBox="1"/>
          <p:nvPr/>
        </p:nvSpPr>
        <p:spPr>
          <a:xfrm>
            <a:off x="4069080" y="120700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4000" dirty="0"/>
          </a:p>
        </p:txBody>
      </p:sp>
      <p:sp>
        <p:nvSpPr>
          <p:cNvPr id="12" name="Stat label 200"/>
          <p:cNvSpPr txBox="1"/>
          <p:nvPr/>
        </p:nvSpPr>
        <p:spPr>
          <a:xfrm>
            <a:off x="3474720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sample records (20 per table)</a:t>
            </a:r>
            <a:endParaRPr lang="en-US" sz="1400" dirty="0"/>
          </a:p>
        </p:txBody>
      </p:sp>
      <p:sp>
        <p:nvSpPr>
          <p:cNvPr id="13" name="Stat card 0"/>
          <p:cNvSpPr/>
          <p:nvPr/>
        </p:nvSpPr>
        <p:spPr>
          <a:xfrm>
            <a:off x="6126480" y="109728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4" name="Stat 0 badge"/>
          <p:cNvSpPr/>
          <p:nvPr/>
        </p:nvSpPr>
        <p:spPr>
          <a:xfrm>
            <a:off x="6309360" y="1280160"/>
            <a:ext cx="457200" cy="457200"/>
          </a:xfrm>
          <a:prstGeom prst="ellipse">
            <a:avLst/>
          </a:prstGeom>
          <a:solidFill>
            <a:srgbClr val="E3A92B"/>
          </a:solidFill>
          <a:ln w="12700">
            <a:solidFill>
              <a:srgbClr val="E3A92B"/>
            </a:solidFill>
            <a:prstDash val="solid"/>
          </a:ln>
        </p:spPr>
      </p:sp>
      <p:pic>
        <p:nvPicPr>
          <p:cNvPr id="15" name="Stat 0 icon" descr="Stat 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804" y="1403604"/>
            <a:ext cx="210312" cy="210312"/>
          </a:xfrm>
          <a:prstGeom prst="rect">
            <a:avLst/>
          </a:prstGeom>
        </p:spPr>
      </p:pic>
      <p:sp>
        <p:nvSpPr>
          <p:cNvPr id="16" name="Stat number 0"/>
          <p:cNvSpPr txBox="1"/>
          <p:nvPr/>
        </p:nvSpPr>
        <p:spPr>
          <a:xfrm>
            <a:off x="6903720" y="120700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Stat label 0"/>
          <p:cNvSpPr txBox="1"/>
          <p:nvPr/>
        </p:nvSpPr>
        <p:spPr>
          <a:xfrm>
            <a:off x="6309360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errors on the final test run</a:t>
            </a:r>
            <a:endParaRPr lang="en-US" sz="1400" dirty="0"/>
          </a:p>
        </p:txBody>
      </p:sp>
      <p:sp>
        <p:nvSpPr>
          <p:cNvPr id="18" name="Improvements card"/>
          <p:cNvSpPr/>
          <p:nvPr/>
        </p:nvSpPr>
        <p:spPr>
          <a:xfrm>
            <a:off x="457200" y="2743200"/>
            <a:ext cx="822960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9" name="Improvements heading"/>
          <p:cNvSpPr txBox="1"/>
          <p:nvPr/>
        </p:nvSpPr>
        <p:spPr>
          <a:xfrm>
            <a:off x="731520" y="285292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Possible improvements</a:t>
            </a:r>
            <a:endParaRPr lang="en-US" sz="1800" dirty="0"/>
          </a:p>
        </p:txBody>
      </p:sp>
      <p:sp>
        <p:nvSpPr>
          <p:cNvPr id="20" name="Number badge 1"/>
          <p:cNvSpPr/>
          <p:nvPr/>
        </p:nvSpPr>
        <p:spPr>
          <a:xfrm>
            <a:off x="731520" y="336499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umber 1"/>
          <p:cNvSpPr txBox="1"/>
          <p:nvPr/>
        </p:nvSpPr>
        <p:spPr>
          <a:xfrm>
            <a:off x="7315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2" name="Improvement 1"/>
          <p:cNvSpPr txBox="1"/>
          <p:nvPr/>
        </p:nvSpPr>
        <p:spPr>
          <a:xfrm>
            <a:off x="1188720" y="33375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Separate Admission table for admissions and discharges</a:t>
            </a:r>
            <a:endParaRPr lang="en-US" sz="1500" dirty="0"/>
          </a:p>
        </p:txBody>
      </p:sp>
      <p:sp>
        <p:nvSpPr>
          <p:cNvPr id="23" name="Number badge 2"/>
          <p:cNvSpPr/>
          <p:nvPr/>
        </p:nvSpPr>
        <p:spPr>
          <a:xfrm>
            <a:off x="731520" y="380390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Number 2"/>
          <p:cNvSpPr txBox="1"/>
          <p:nvPr/>
        </p:nvSpPr>
        <p:spPr>
          <a:xfrm>
            <a:off x="731520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Improvement 2"/>
          <p:cNvSpPr txBox="1"/>
          <p:nvPr/>
        </p:nvSpPr>
        <p:spPr>
          <a:xfrm>
            <a:off x="1188720" y="377647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Link Prescription to Encounter</a:t>
            </a:r>
            <a:endParaRPr lang="en-US" sz="1500" dirty="0"/>
          </a:p>
        </p:txBody>
      </p:sp>
      <p:sp>
        <p:nvSpPr>
          <p:cNvPr id="26" name="Number badge 3"/>
          <p:cNvSpPr/>
          <p:nvPr/>
        </p:nvSpPr>
        <p:spPr>
          <a:xfrm>
            <a:off x="731520" y="424281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Number 3"/>
          <p:cNvSpPr txBox="1"/>
          <p:nvPr/>
        </p:nvSpPr>
        <p:spPr>
          <a:xfrm>
            <a:off x="731520" y="4242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8" name="Improvement 3"/>
          <p:cNvSpPr txBox="1"/>
          <p:nvPr/>
        </p:nvSpPr>
        <p:spPr>
          <a:xfrm>
            <a:off x="1188720" y="421538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Move insurance details into their own table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43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                     Thank you</a:t>
            </a:r>
            <a:endParaRPr lang="en-US" sz="3800" dirty="0"/>
          </a:p>
        </p:txBody>
      </p:sp>
      <p:sp>
        <p:nvSpPr>
          <p:cNvPr id="7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8346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lthcare Navy">
  <a:themeElements>
    <a:clrScheme name="Healthcare Navy">
      <a:dk1>
        <a:srgbClr val="1F2937"/>
      </a:dk1>
      <a:lt1>
        <a:srgbClr val="FFFFFF"/>
      </a:lt1>
      <a:dk2>
        <a:srgbClr val="0F3D5E"/>
      </a:dk2>
      <a:lt2>
        <a:srgbClr val="EEF4F8"/>
      </a:lt2>
      <a:accent1>
        <a:srgbClr val="1F6FB2"/>
      </a:accent1>
      <a:accent2>
        <a:srgbClr val="E3A92B"/>
      </a:accent2>
      <a:accent3>
        <a:srgbClr val="2E9E7B"/>
      </a:accent3>
      <a:accent4>
        <a:srgbClr val="7A8CA3"/>
      </a:accent4>
      <a:accent5>
        <a:srgbClr val="C0504D"/>
      </a:accent5>
      <a:accent6>
        <a:srgbClr val="6B5B95"/>
      </a:accent6>
      <a:hlink>
        <a:srgbClr val="1F6FB2"/>
      </a:hlink>
      <a:folHlink>
        <a:srgbClr val="6B5B95"/>
      </a:folHlink>
    </a:clrScheme>
    <a:fontScheme name="Healthcare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717</Words>
  <Application>Microsoft Office PowerPoint</Application>
  <PresentationFormat>On-screen Show (16:9)</PresentationFormat>
  <Paragraphs>166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Healthcare Navy</vt:lpstr>
      <vt:lpstr>Database Design for Healthcare Records</vt:lpstr>
      <vt:lpstr>Problem statement: 7 requirements, 10 tables</vt:lpstr>
      <vt:lpstr>ER diagram (Chen notation)</vt:lpstr>
      <vt:lpstr>Database design: tables and keys</vt:lpstr>
      <vt:lpstr>Data integrity and security</vt:lpstr>
      <vt:lpstr>Sample queries</vt:lpstr>
      <vt:lpstr>Summary</vt:lpstr>
      <vt:lpstr>                     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Design for Healthcare Records</dc:title>
  <dc:subject>PptxGenJS Presentation</dc:subject>
  <dc:creator>Pranita Jadhav</dc:creator>
  <cp:lastModifiedBy>pranita jadhav</cp:lastModifiedBy>
  <cp:revision>2</cp:revision>
  <dcterms:created xsi:type="dcterms:W3CDTF">2026-10-14T15:19:51Z</dcterms:created>
  <dcterms:modified xsi:type="dcterms:W3CDTF">2026-10-14T15:44:17Z</dcterms:modified>
</cp:coreProperties>
</file>